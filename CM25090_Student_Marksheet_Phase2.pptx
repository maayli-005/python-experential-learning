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8" r:id="rId20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7" autoAdjust="0"/>
    <p:restoredTop sz="94660"/>
  </p:normalViewPr>
  <p:slideViewPr>
    <p:cSldViewPr>
      <p:cViewPr varScale="1">
        <p:scale>
          <a:sx n="82" d="100"/>
          <a:sy n="82" d="100"/>
        </p:scale>
        <p:origin x="1522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49" y="309880"/>
                </a:moveTo>
                <a:lnTo>
                  <a:pt x="0" y="309880"/>
                </a:lnTo>
                <a:lnTo>
                  <a:pt x="0" y="0"/>
                </a:lnTo>
                <a:lnTo>
                  <a:pt x="8832849" y="0"/>
                </a:lnTo>
                <a:lnTo>
                  <a:pt x="8832849" y="309880"/>
                </a:lnTo>
                <a:close/>
              </a:path>
            </a:pathLst>
          </a:custGeom>
          <a:solidFill>
            <a:srgbClr val="8BAB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89" y="6546849"/>
                </a:moveTo>
                <a:lnTo>
                  <a:pt x="0" y="6546849"/>
                </a:lnTo>
                <a:lnTo>
                  <a:pt x="0" y="0"/>
                </a:lnTo>
                <a:lnTo>
                  <a:pt x="8832849" y="0"/>
                </a:lnTo>
                <a:lnTo>
                  <a:pt x="8832849" y="6546849"/>
                </a:lnTo>
                <a:lnTo>
                  <a:pt x="4415789" y="6546849"/>
                </a:lnTo>
                <a:close/>
              </a:path>
            </a:pathLst>
          </a:custGeom>
          <a:ln w="9524">
            <a:solidFill>
              <a:srgbClr val="79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8426" y="2896496"/>
            <a:ext cx="3138804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47800" y="285368"/>
            <a:ext cx="5791200" cy="19825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Experiential</a:t>
            </a:r>
            <a:r>
              <a:rPr sz="32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Learning </a:t>
            </a:r>
            <a:r>
              <a:rPr sz="3200" dirty="0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  <a:r>
              <a:rPr sz="3200" spc="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sz="3200" spc="-30" dirty="0">
                <a:solidFill>
                  <a:srgbClr val="000000"/>
                </a:solidFill>
                <a:latin typeface="Times New Roman"/>
                <a:cs typeface="Times New Roman"/>
              </a:rPr>
              <a:t>Assessment-</a:t>
            </a:r>
            <a:r>
              <a:rPr sz="3200" spc="-50" dirty="0">
                <a:solidFill>
                  <a:srgbClr val="000000"/>
                </a:solidFill>
                <a:latin typeface="Times New Roman"/>
                <a:cs typeface="Times New Roman"/>
              </a:rPr>
              <a:t>I </a:t>
            </a:r>
            <a:r>
              <a:rPr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endParaRPr sz="3200" dirty="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sz="3200" dirty="0">
                <a:latin typeface="Times New Roman"/>
                <a:cs typeface="Times New Roman"/>
              </a:rPr>
              <a:t>“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lang="en-US" sz="32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Student </a:t>
            </a:r>
            <a:r>
              <a:rPr lang="en-US" sz="3200" dirty="0" err="1" smtClean="0">
                <a:solidFill>
                  <a:srgbClr val="000000"/>
                </a:solidFill>
                <a:latin typeface="Times New Roman"/>
                <a:cs typeface="Times New Roman"/>
              </a:rPr>
              <a:t>Marksheet</a:t>
            </a:r>
            <a:r>
              <a:rPr lang="en-US" sz="3200" dirty="0" smtClean="0">
                <a:solidFill>
                  <a:srgbClr val="000000"/>
                </a:solidFill>
                <a:latin typeface="Times New Roman"/>
                <a:cs typeface="Times New Roman"/>
              </a:rPr>
              <a:t> Automation (high volume)</a:t>
            </a:r>
            <a:r>
              <a:rPr sz="3200" spc="-10" dirty="0" smtClean="0">
                <a:latin typeface="Times New Roman"/>
                <a:cs typeface="Times New Roman"/>
              </a:rPr>
              <a:t>”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2397" y="2238120"/>
            <a:ext cx="6601459" cy="820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under</a:t>
            </a:r>
            <a:r>
              <a:rPr sz="28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8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course</a:t>
            </a:r>
            <a:endParaRPr sz="28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Python</a:t>
            </a:r>
            <a:r>
              <a:rPr sz="24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Programming</a:t>
            </a:r>
            <a:r>
              <a:rPr sz="2400" b="1" spc="-7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Language</a:t>
            </a:r>
            <a:r>
              <a:rPr sz="24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(N-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PCCCM304P)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8825" y="3310932"/>
            <a:ext cx="1457325" cy="12567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25" dirty="0" smtClean="0">
                <a:latin typeface="Times New Roman"/>
                <a:cs typeface="Times New Roman"/>
              </a:rPr>
              <a:t>By</a:t>
            </a:r>
            <a:endParaRPr lang="en-US" sz="2000" b="1" spc="-25" dirty="0" smtClean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000" b="1" spc="-25" dirty="0" smtClean="0">
                <a:latin typeface="Times New Roman"/>
                <a:cs typeface="Times New Roman"/>
              </a:rPr>
              <a:t>Maayli Tabhane (CM25090)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7422" y="3292240"/>
            <a:ext cx="222377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 indent="-995044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Under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Guidance 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2349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Mrs.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Mayuri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Getme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8575" y="3286617"/>
            <a:ext cx="1444282" cy="101734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05675" y="4662423"/>
            <a:ext cx="7997825" cy="203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36165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latin typeface="Times New Roman"/>
                <a:cs typeface="Times New Roman"/>
              </a:rPr>
              <a:t>Session:2026-</a:t>
            </a:r>
            <a:r>
              <a:rPr sz="2200" b="1" dirty="0">
                <a:latin typeface="Times New Roman"/>
                <a:cs typeface="Times New Roman"/>
              </a:rPr>
              <a:t>27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(ODD</a:t>
            </a:r>
            <a:r>
              <a:rPr sz="2200" b="1" spc="-50" dirty="0">
                <a:latin typeface="Times New Roman"/>
                <a:cs typeface="Times New Roman"/>
              </a:rPr>
              <a:t> )</a:t>
            </a:r>
            <a:endParaRPr sz="2200">
              <a:latin typeface="Times New Roman"/>
              <a:cs typeface="Times New Roman"/>
            </a:endParaRPr>
          </a:p>
          <a:p>
            <a:pPr marL="2308860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Times New Roman"/>
                <a:cs typeface="Times New Roman"/>
              </a:rPr>
              <a:t>Department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CSE(AI&amp;ML)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ts val="2340"/>
              </a:lnSpc>
              <a:spcBef>
                <a:spcPts val="635"/>
              </a:spcBef>
            </a:pPr>
            <a:r>
              <a:rPr sz="2000" b="1" dirty="0">
                <a:latin typeface="Times New Roman"/>
                <a:cs typeface="Times New Roman"/>
              </a:rPr>
              <a:t>S.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B.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JAIN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TECHNOLOGY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MANAGEMENT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</a:t>
            </a:r>
            <a:endParaRPr sz="2000">
              <a:latin typeface="Times New Roman"/>
              <a:cs typeface="Times New Roman"/>
            </a:endParaRPr>
          </a:p>
          <a:p>
            <a:pPr marL="2286000">
              <a:lnSpc>
                <a:spcPts val="2255"/>
              </a:lnSpc>
            </a:pPr>
            <a:r>
              <a:rPr sz="2000" b="1" spc="-10" dirty="0">
                <a:latin typeface="Times New Roman"/>
                <a:cs typeface="Times New Roman"/>
              </a:rPr>
              <a:t>RESEARCH,NAGPUR</a:t>
            </a:r>
            <a:endParaRPr sz="2000">
              <a:latin typeface="Times New Roman"/>
              <a:cs typeface="Times New Roman"/>
            </a:endParaRPr>
          </a:p>
          <a:p>
            <a:pPr marL="483870">
              <a:lnSpc>
                <a:spcPts val="2315"/>
              </a:lnSpc>
            </a:pPr>
            <a:r>
              <a:rPr sz="2000" b="1" dirty="0">
                <a:latin typeface="Times New Roman"/>
                <a:cs typeface="Times New Roman"/>
              </a:rPr>
              <a:t>An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Autonomous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Institute,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Affiliated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RTMNU,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Nagpur</a:t>
            </a:r>
            <a:endParaRPr sz="200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77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109728"/>
            <a:ext cx="8924544" cy="6537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228600"/>
          </a:xfrm>
          <a:prstGeom prst="rect">
            <a:avLst/>
          </a:prstGeom>
          <a:solidFill>
            <a:srgbClr val="8FB2B4"/>
          </a:solidFill>
          <a:ln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6023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8001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  <a:defRPr sz="1450">
                <a:solidFill>
                  <a:srgbClr val="141414"/>
                </a:solidFill>
                <a:latin typeface="Arial"/>
              </a:defRPr>
            </a:pPr>
            <a:r>
              <a:t>• Problem statement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450">
                <a:solidFill>
                  <a:srgbClr val="141414"/>
                </a:solidFill>
                <a:latin typeface="Arial"/>
              </a:defRPr>
            </a:pPr>
            <a:r>
              <a:t>• Objectives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450">
                <a:solidFill>
                  <a:srgbClr val="141414"/>
                </a:solidFill>
                <a:latin typeface="Arial"/>
              </a:defRPr>
            </a:pPr>
            <a:r>
              <a:t>• Algorithm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450">
                <a:solidFill>
                  <a:srgbClr val="141414"/>
                </a:solidFill>
                <a:latin typeface="Arial"/>
              </a:defRPr>
            </a:pPr>
            <a:r>
              <a:t>• Flowchart / pseudocode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450">
                <a:solidFill>
                  <a:srgbClr val="141414"/>
                </a:solidFill>
                <a:latin typeface="Arial"/>
              </a:defRPr>
            </a:pPr>
            <a:r>
              <a:t>• Understanding of Python logic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450">
                <a:solidFill>
                  <a:srgbClr val="141414"/>
                </a:solidFill>
                <a:latin typeface="Arial"/>
              </a:defRPr>
            </a:pPr>
            <a:r>
              <a:t>• Graphical representation and working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450">
                <a:solidFill>
                  <a:srgbClr val="141414"/>
                </a:solidFill>
                <a:latin typeface="Arial"/>
              </a:defRPr>
            </a:pPr>
            <a:r>
              <a:t>• GitHub account, repository creation, uploading code, meaningful commits, collaboration, individual contribution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450">
                <a:solidFill>
                  <a:srgbClr val="141414"/>
                </a:solidFill>
                <a:latin typeface="Arial"/>
              </a:defRPr>
            </a:pPr>
            <a:r>
              <a:t>• Result / expected output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109728"/>
            <a:ext cx="8924544" cy="6537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228600"/>
          </a:xfrm>
          <a:prstGeom prst="rect">
            <a:avLst/>
          </a:prstGeom>
          <a:solidFill>
            <a:srgbClr val="8FB2B4"/>
          </a:solidFill>
          <a:ln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Arial"/>
              </a:defRPr>
            </a:pPr>
            <a:r>
              <a:t>1.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6023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8001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Preparing marksheets manually for a large number of students is time-consuming and repetitive.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Calculating total marks, percentage, grades, and ranks manually can lead to errors.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Managing student records becomes difficult as the number of students increases.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Different subject marks need to be processed consistently for every student.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Manual data entry and repeated calculations reduce efficiency and increase workload.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The system should automatically process marks and generate accurate student results.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It should handle high-volume student data efficiently using Python logic and structured records.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The generated marksheet should clearly display total, percentage, grade, and rank.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The project demonstrates how Python can automate repetitive academic result-processing tasks.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109728"/>
            <a:ext cx="8924544" cy="6537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228600"/>
          </a:xfrm>
          <a:prstGeom prst="rect">
            <a:avLst/>
          </a:prstGeom>
          <a:solidFill>
            <a:srgbClr val="8FB2B4"/>
          </a:solidFill>
          <a:ln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Arial"/>
              </a:defRPr>
            </a:pPr>
            <a:r>
              <a:t>2.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6023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8001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  <a:defRPr sz="1310">
                <a:solidFill>
                  <a:srgbClr val="141414"/>
                </a:solidFill>
                <a:latin typeface="Arial"/>
              </a:defRPr>
            </a:pPr>
            <a:r>
              <a:t>• To develop an automated marksheet generation system for a large number of students.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10">
                <a:solidFill>
                  <a:srgbClr val="141414"/>
                </a:solidFill>
                <a:latin typeface="Arial"/>
              </a:defRPr>
            </a:pPr>
            <a:r>
              <a:t>• To store student details and subject marks in a structured format.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10">
                <a:solidFill>
                  <a:srgbClr val="141414"/>
                </a:solidFill>
                <a:latin typeface="Arial"/>
              </a:defRPr>
            </a:pPr>
            <a:r>
              <a:t>• To calculate total marks automatically for every student.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10">
                <a:solidFill>
                  <a:srgbClr val="141414"/>
                </a:solidFill>
                <a:latin typeface="Arial"/>
              </a:defRPr>
            </a:pPr>
            <a:r>
              <a:t>• To calculate percentage accurately using the obtained marks.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10">
                <a:solidFill>
                  <a:srgbClr val="141414"/>
                </a:solidFill>
                <a:latin typeface="Arial"/>
              </a:defRPr>
            </a:pPr>
            <a:r>
              <a:t>• To assign grades based on predefined percentage ranges.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10">
                <a:solidFill>
                  <a:srgbClr val="141414"/>
                </a:solidFill>
                <a:latin typeface="Arial"/>
              </a:defRPr>
            </a:pPr>
            <a:r>
              <a:t>• To determine student rank from the calculated performance.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10">
                <a:solidFill>
                  <a:srgbClr val="141414"/>
                </a:solidFill>
                <a:latin typeface="Arial"/>
              </a:defRPr>
            </a:pPr>
            <a:r>
              <a:t>• To reduce manual calculation and data-entry errors.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10">
                <a:solidFill>
                  <a:srgbClr val="141414"/>
                </a:solidFill>
                <a:latin typeface="Arial"/>
              </a:defRPr>
            </a:pPr>
            <a:r>
              <a:t>• To generate clear and printable marksheet information efficiently.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10">
                <a:solidFill>
                  <a:srgbClr val="141414"/>
                </a:solidFill>
                <a:latin typeface="Arial"/>
              </a:defRPr>
            </a:pPr>
            <a:r>
              <a:t>• To process multiple student records using loops and Python data structures.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10">
                <a:solidFill>
                  <a:srgbClr val="141414"/>
                </a:solidFill>
                <a:latin typeface="Arial"/>
              </a:defRPr>
            </a:pPr>
            <a:r>
              <a:t>• To understand the practical use of Python for high-volume academic data processing.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109728"/>
            <a:ext cx="8924544" cy="6537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228600"/>
          </a:xfrm>
          <a:prstGeom prst="rect">
            <a:avLst/>
          </a:prstGeom>
          <a:solidFill>
            <a:srgbClr val="8FB2B4"/>
          </a:solidFill>
          <a:ln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Arial"/>
              </a:defRPr>
            </a:pPr>
            <a:r>
              <a:t>3. 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6023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896112"/>
            <a:ext cx="80010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  <a:defRPr sz="1290">
                <a:solidFill>
                  <a:srgbClr val="141414"/>
                </a:solidFill>
                <a:latin typeface="Arial"/>
              </a:defRPr>
            </a:pPr>
            <a:r>
              <a:t>• Start the program.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290">
                <a:solidFill>
                  <a:srgbClr val="141414"/>
                </a:solidFill>
                <a:latin typeface="Arial"/>
              </a:defRPr>
            </a:pPr>
            <a:r>
              <a:t>• Enter the number of students and the required subject details.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290">
                <a:solidFill>
                  <a:srgbClr val="141414"/>
                </a:solidFill>
                <a:latin typeface="Arial"/>
              </a:defRPr>
            </a:pPr>
            <a:r>
              <a:t>• Enter student name, roll number, and marks obtained in each subject.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290">
                <a:solidFill>
                  <a:srgbClr val="141414"/>
                </a:solidFill>
                <a:latin typeface="Arial"/>
              </a:defRPr>
            </a:pPr>
            <a:r>
              <a:t>• Store each student's information in a structured record.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290">
                <a:solidFill>
                  <a:srgbClr val="141414"/>
                </a:solidFill>
                <a:latin typeface="Arial"/>
              </a:defRPr>
            </a:pPr>
            <a:r>
              <a:t>• Calculate total marks by adding the marks of all subjects.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290">
                <a:solidFill>
                  <a:srgbClr val="141414"/>
                </a:solidFill>
                <a:latin typeface="Arial"/>
              </a:defRPr>
            </a:pPr>
            <a:r>
              <a:t>• Calculate percentage from total marks and maximum marks.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290">
                <a:solidFill>
                  <a:srgbClr val="141414"/>
                </a:solidFill>
                <a:latin typeface="Arial"/>
              </a:defRPr>
            </a:pPr>
            <a:r>
              <a:t>• Assign a grade according to the percentage range.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290">
                <a:solidFill>
                  <a:srgbClr val="141414"/>
                </a:solidFill>
                <a:latin typeface="Arial"/>
              </a:defRPr>
            </a:pPr>
            <a:r>
              <a:t>• Repeat the process for all student records.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290">
                <a:solidFill>
                  <a:srgbClr val="141414"/>
                </a:solidFill>
                <a:latin typeface="Arial"/>
              </a:defRPr>
            </a:pPr>
            <a:r>
              <a:t>• Sort or compare percentages to determine the rank of each student.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290">
                <a:solidFill>
                  <a:srgbClr val="141414"/>
                </a:solidFill>
                <a:latin typeface="Arial"/>
              </a:defRPr>
            </a:pPr>
            <a:r>
              <a:t>• Display the completed marksheet with total, percentage, grade, and rank.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290">
                <a:solidFill>
                  <a:srgbClr val="141414"/>
                </a:solidFill>
                <a:latin typeface="Arial"/>
              </a:defRPr>
            </a:pPr>
            <a:r>
              <a:t>• Stop the program.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109728"/>
            <a:ext cx="8924544" cy="6537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228600"/>
          </a:xfrm>
          <a:prstGeom prst="rect">
            <a:avLst/>
          </a:prstGeom>
          <a:solidFill>
            <a:srgbClr val="8FB2B4"/>
          </a:solidFill>
          <a:ln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Arial"/>
              </a:defRPr>
            </a:pPr>
            <a:r>
              <a:t>4. Flowchart / Pseudocode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6023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80360" y="868680"/>
            <a:ext cx="3337560" cy="438912"/>
          </a:xfrm>
          <a:prstGeom prst="roundRect">
            <a:avLst/>
          </a:prstGeom>
          <a:solidFill>
            <a:srgbClr val="F7D6D6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41414"/>
                </a:solidFill>
                <a:latin typeface="Arial"/>
              </a:defRPr>
            </a:pPr>
            <a:r>
              <a:t>START</a:t>
            </a:r>
          </a:p>
        </p:txBody>
      </p:sp>
      <p:sp>
        <p:nvSpPr>
          <p:cNvPr id="7" name="Down Arrow 6"/>
          <p:cNvSpPr/>
          <p:nvPr/>
        </p:nvSpPr>
        <p:spPr>
          <a:xfrm>
            <a:off x="4343400" y="1316736"/>
            <a:ext cx="411480" cy="164592"/>
          </a:xfrm>
          <a:prstGeom prst="downArrow">
            <a:avLst/>
          </a:prstGeom>
          <a:solidFill>
            <a:srgbClr val="828282"/>
          </a:solidFill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80360" y="1508760"/>
            <a:ext cx="3337560" cy="438912"/>
          </a:xfrm>
          <a:prstGeom prst="roundRect">
            <a:avLst/>
          </a:prstGeom>
          <a:solidFill>
            <a:srgbClr val="FAEFC1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41414"/>
                </a:solidFill>
                <a:latin typeface="Arial"/>
              </a:defRPr>
            </a:pPr>
            <a:r>
              <a:t>1. Enter student details</a:t>
            </a:r>
            <a:br/>
            <a:r>
              <a:t>and subject marks</a:t>
            </a:r>
          </a:p>
        </p:txBody>
      </p:sp>
      <p:sp>
        <p:nvSpPr>
          <p:cNvPr id="9" name="Down Arrow 8"/>
          <p:cNvSpPr/>
          <p:nvPr/>
        </p:nvSpPr>
        <p:spPr>
          <a:xfrm>
            <a:off x="4343400" y="1956815"/>
            <a:ext cx="411480" cy="164592"/>
          </a:xfrm>
          <a:prstGeom prst="downArrow">
            <a:avLst/>
          </a:prstGeom>
          <a:solidFill>
            <a:srgbClr val="828282"/>
          </a:solidFill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880360" y="2148839"/>
            <a:ext cx="3337560" cy="438912"/>
          </a:xfrm>
          <a:prstGeom prst="roundRect">
            <a:avLst/>
          </a:prstGeom>
          <a:solidFill>
            <a:srgbClr val="D7E8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41414"/>
                </a:solidFill>
                <a:latin typeface="Arial"/>
              </a:defRPr>
            </a:pPr>
            <a:r>
              <a:t>2. Store student record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4343400" y="2596896"/>
            <a:ext cx="411480" cy="164592"/>
          </a:xfrm>
          <a:prstGeom prst="downArrow">
            <a:avLst/>
          </a:prstGeom>
          <a:solidFill>
            <a:srgbClr val="828282"/>
          </a:solidFill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880360" y="2788920"/>
            <a:ext cx="3337560" cy="438912"/>
          </a:xfrm>
          <a:prstGeom prst="roundRect">
            <a:avLst/>
          </a:prstGeom>
          <a:solidFill>
            <a:srgbClr val="DDF0D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41414"/>
                </a:solidFill>
                <a:latin typeface="Arial"/>
              </a:defRPr>
            </a:pPr>
            <a:r>
              <a:t>3. Calculate total</a:t>
            </a:r>
            <a:br/>
            <a:r>
              <a:t>and percentage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343400" y="3236975"/>
            <a:ext cx="411480" cy="164592"/>
          </a:xfrm>
          <a:prstGeom prst="downArrow">
            <a:avLst/>
          </a:prstGeom>
          <a:solidFill>
            <a:srgbClr val="828282"/>
          </a:solidFill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880360" y="3429000"/>
            <a:ext cx="3337560" cy="438912"/>
          </a:xfrm>
          <a:prstGeom prst="roundRect">
            <a:avLst/>
          </a:prstGeom>
          <a:solidFill>
            <a:srgbClr val="FAEFC1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41414"/>
                </a:solidFill>
                <a:latin typeface="Arial"/>
              </a:defRPr>
            </a:pPr>
            <a:r>
              <a:t>4. Assign grade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4343400" y="3877056"/>
            <a:ext cx="411480" cy="164592"/>
          </a:xfrm>
          <a:prstGeom prst="downArrow">
            <a:avLst/>
          </a:prstGeom>
          <a:solidFill>
            <a:srgbClr val="828282"/>
          </a:solidFill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880360" y="4069080"/>
            <a:ext cx="3337560" cy="438912"/>
          </a:xfrm>
          <a:prstGeom prst="roundRect">
            <a:avLst/>
          </a:prstGeom>
          <a:solidFill>
            <a:srgbClr val="D7E8F5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41414"/>
                </a:solidFill>
                <a:latin typeface="Arial"/>
              </a:defRPr>
            </a:pPr>
            <a:r>
              <a:t>5. Process all students</a:t>
            </a:r>
            <a:br/>
            <a:r>
              <a:t>and determine rank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4343400" y="4517136"/>
            <a:ext cx="411480" cy="164592"/>
          </a:xfrm>
          <a:prstGeom prst="downArrow">
            <a:avLst/>
          </a:prstGeom>
          <a:solidFill>
            <a:srgbClr val="828282"/>
          </a:solidFill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2880360" y="4709159"/>
            <a:ext cx="3337560" cy="438912"/>
          </a:xfrm>
          <a:prstGeom prst="roundRect">
            <a:avLst/>
          </a:prstGeom>
          <a:solidFill>
            <a:srgbClr val="DDF0DB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41414"/>
                </a:solidFill>
                <a:latin typeface="Arial"/>
              </a:defRPr>
            </a:pPr>
            <a:r>
              <a:t>6. Generate marksheet</a:t>
            </a:r>
            <a:br/>
            <a:r>
              <a:t>and display result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4343400" y="5157215"/>
            <a:ext cx="411480" cy="164592"/>
          </a:xfrm>
          <a:prstGeom prst="downArrow">
            <a:avLst/>
          </a:prstGeom>
          <a:solidFill>
            <a:srgbClr val="828282"/>
          </a:solidFill>
          <a:ln>
            <a:solidFill>
              <a:srgbClr val="828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2880360" y="5349240"/>
            <a:ext cx="3337560" cy="438912"/>
          </a:xfrm>
          <a:prstGeom prst="roundRect">
            <a:avLst/>
          </a:prstGeom>
          <a:solidFill>
            <a:srgbClr val="F7D6D6"/>
          </a:solidFill>
          <a:ln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141414"/>
                </a:solidFill>
                <a:latin typeface="Arial"/>
              </a:defRPr>
            </a:pPr>
            <a:r>
              <a:t>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6080760"/>
            <a:ext cx="6126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141414"/>
                </a:solidFill>
                <a:latin typeface="Arial"/>
              </a:defRPr>
            </a:pPr>
            <a:r>
              <a:t>Pseudocode: Input → Store → Calculate → Grade → Rank → Generate Marksheet →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109728"/>
            <a:ext cx="8924544" cy="6537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228600"/>
          </a:xfrm>
          <a:prstGeom prst="rect">
            <a:avLst/>
          </a:prstGeom>
          <a:solidFill>
            <a:srgbClr val="8FB2B4"/>
          </a:solidFill>
          <a:ln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Arial"/>
              </a:defRPr>
            </a:pPr>
            <a:r>
              <a:t>5. Understanding of python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6023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  <p:pic>
        <p:nvPicPr>
          <p:cNvPr id="6" name="Picture 5" descr="marksheet_c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051560"/>
            <a:ext cx="7040880" cy="4069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120" y="5349240"/>
            <a:ext cx="72694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141414"/>
                </a:solidFill>
                <a:latin typeface="Arial"/>
              </a:defRPr>
            </a:pPr>
            <a:r>
              <a:t>The program uses lists/dictionaries to store student records, loops to process many students, sum() for total marks, conditional statements for grades, and formatted output for the final marksheet.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109728"/>
            <a:ext cx="8924544" cy="6537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228600"/>
          </a:xfrm>
          <a:prstGeom prst="rect">
            <a:avLst/>
          </a:prstGeom>
          <a:solidFill>
            <a:srgbClr val="8FB2B4"/>
          </a:solidFill>
          <a:ln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Arial"/>
              </a:defRPr>
            </a:pPr>
            <a:r>
              <a:t>6. Graphical Representation and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6023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  <p:pic>
        <p:nvPicPr>
          <p:cNvPr id="6" name="Picture 5" descr="marksheet_wor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051560"/>
            <a:ext cx="781812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074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141414"/>
                </a:solidFill>
                <a:latin typeface="Arial"/>
              </a:defRPr>
            </a:pPr>
            <a:r>
              <a:t>Benefits: faster processing, consistent calculations, fewer manual errors, easy handling of high-volume records, and clear result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109728"/>
            <a:ext cx="8924544" cy="6537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228600"/>
          </a:xfrm>
          <a:prstGeom prst="rect">
            <a:avLst/>
          </a:prstGeom>
          <a:solidFill>
            <a:srgbClr val="8FB2B4"/>
          </a:solidFill>
          <a:ln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Arial"/>
              </a:defRPr>
            </a:pPr>
            <a:r>
              <a:t>7. GitHub Account, Repository &amp;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6023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914400"/>
            <a:ext cx="7955279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Create GitHub Account – Set up a personal GitHub account.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Create Repository – Student Marksheet Automation (High Volume).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Upload Code – Upload the Python source files and project documentation.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Meaningful Commits – Save changes with clear messages such as 'Added grade calculation'.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Collaboration – Share the repository and use branches or pull requests when working as a team.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Individual Contribution – Each member contributes code, testing, documentation, or presentation work.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Track Changes – Use GitHub history to monitor project updates and improvements.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20">
                <a:solidFill>
                  <a:srgbClr val="141414"/>
                </a:solidFill>
                <a:latin typeface="Arial"/>
              </a:defRPr>
            </a:pPr>
            <a:r>
              <a:t>• Maintain Version Control – Keep the latest working version of the marksheet automation project.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109728"/>
            <a:ext cx="8924544" cy="6537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228600"/>
          </a:xfrm>
          <a:prstGeom prst="rect">
            <a:avLst/>
          </a:prstGeom>
          <a:solidFill>
            <a:srgbClr val="8FB2B4"/>
          </a:solidFill>
          <a:ln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Arial"/>
              </a:defRPr>
            </a:pPr>
            <a:r>
              <a:t>8. Individual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6023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896112"/>
            <a:ext cx="7955279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2000"/>
              </a:lnSpc>
              <a:spcAft>
                <a:spcPts val="400"/>
              </a:spcAft>
              <a:defRPr sz="1300">
                <a:solidFill>
                  <a:srgbClr val="141414"/>
                </a:solidFill>
                <a:latin typeface="Arial"/>
              </a:defRPr>
            </a:pPr>
            <a:r>
              <a:t>• Problem Analysis – Studied the need for automating marksheet preparation for high-volume student records.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00">
                <a:solidFill>
                  <a:srgbClr val="141414"/>
                </a:solidFill>
                <a:latin typeface="Arial"/>
              </a:defRPr>
            </a:pPr>
            <a:r>
              <a:t>• Requirement Identification – Identified inputs such as student details and subject marks.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00">
                <a:solidFill>
                  <a:srgbClr val="141414"/>
                </a:solidFill>
                <a:latin typeface="Arial"/>
              </a:defRPr>
            </a:pPr>
            <a:r>
              <a:t>• Algorithm Design – Designed the steps for total, percentage, grade, and rank calculation.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00">
                <a:solidFill>
                  <a:srgbClr val="141414"/>
                </a:solidFill>
                <a:latin typeface="Arial"/>
              </a:defRPr>
            </a:pPr>
            <a:r>
              <a:t>• Python Coding – Implemented data storage, loops, calculations, conditions, and output generation.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00">
                <a:solidFill>
                  <a:srgbClr val="141414"/>
                </a:solidFill>
                <a:latin typeface="Arial"/>
              </a:defRPr>
            </a:pPr>
            <a:r>
              <a:t>• Testing – Tested the system with multiple student records and different mark ranges.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00">
                <a:solidFill>
                  <a:srgbClr val="141414"/>
                </a:solidFill>
                <a:latin typeface="Arial"/>
              </a:defRPr>
            </a:pPr>
            <a:r>
              <a:t>• Error Checking – Checked calculations and grade assignment to reduce incorrect results.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00">
                <a:solidFill>
                  <a:srgbClr val="141414"/>
                </a:solidFill>
                <a:latin typeface="Arial"/>
              </a:defRPr>
            </a:pPr>
            <a:r>
              <a:t>• GitHub Contribution – Uploaded project files and maintained meaningful commits.</a:t>
            </a:r>
          </a:p>
          <a:p>
            <a:pPr>
              <a:lnSpc>
                <a:spcPct val="102000"/>
              </a:lnSpc>
              <a:spcAft>
                <a:spcPts val="400"/>
              </a:spcAft>
              <a:defRPr sz="1300">
                <a:solidFill>
                  <a:srgbClr val="141414"/>
                </a:solidFill>
                <a:latin typeface="Arial"/>
              </a:defRPr>
            </a:pPr>
            <a:r>
              <a:t>• Documentation &amp; PPT – Prepared project documentation, graphical representation, and presentation slides.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109728"/>
            <a:ext cx="8924544" cy="6537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228600"/>
          </a:xfrm>
          <a:prstGeom prst="rect">
            <a:avLst/>
          </a:prstGeom>
          <a:solidFill>
            <a:srgbClr val="8FB2B4"/>
          </a:solidFill>
          <a:ln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41414"/>
                </a:solidFill>
                <a:latin typeface="Arial"/>
              </a:defRPr>
            </a:pPr>
            <a:r>
              <a:t>9. Result / Expected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646023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  <p:pic>
        <p:nvPicPr>
          <p:cNvPr id="6" name="Picture 5" descr="marksheet_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143000"/>
            <a:ext cx="7406640" cy="3886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525780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0">
                <a:solidFill>
                  <a:srgbClr val="141414"/>
                </a:solidFill>
                <a:latin typeface="Arial"/>
              </a:defRPr>
            </a:pPr>
            <a:r>
              <a:t>The system automatically produces accurate totals, percentages, grades, and ranks for multiple students, reducing repetitive manual work and making high-volume marksheet preparation faster.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9728" y="81736"/>
            <a:ext cx="8924544" cy="6537960"/>
          </a:xfrm>
          <a:prstGeom prst="rect">
            <a:avLst/>
          </a:prstGeom>
          <a:solidFill>
            <a:srgbClr val="FFFFFF"/>
          </a:solidFill>
          <a:ln w="10160">
            <a:solidFill>
              <a:srgbClr val="BECD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446520"/>
            <a:ext cx="9144000" cy="228600"/>
          </a:xfrm>
          <a:prstGeom prst="rect">
            <a:avLst/>
          </a:prstGeom>
          <a:solidFill>
            <a:srgbClr val="8FB2B4"/>
          </a:solidFill>
          <a:ln>
            <a:solidFill>
              <a:srgbClr val="8FB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6032" y="6460236"/>
            <a:ext cx="4114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0465" y="2743200"/>
            <a:ext cx="7665881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141414"/>
                </a:solidFill>
                <a:latin typeface="Arial"/>
              </a:defRPr>
            </a:pPr>
            <a:r>
              <a:rPr lang="en-US" dirty="0" smtClean="0"/>
              <a:t>Phase-2  Student </a:t>
            </a:r>
            <a:r>
              <a:rPr lang="en-US" dirty="0" err="1" smtClean="0"/>
              <a:t>Marksheet</a:t>
            </a:r>
            <a:r>
              <a:rPr lang="en-US" dirty="0" smtClean="0"/>
              <a:t> Automation 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264687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1E1E"/>
                </a:solidFill>
                <a:latin typeface="Arial"/>
              </a:defRPr>
            </a:pPr>
            <a:r>
              <a:rPr dirty="0" smtClean="0"/>
              <a:t>Progress </a:t>
            </a:r>
            <a:r>
              <a:rPr dirty="0"/>
              <a:t>Work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960120"/>
            <a:ext cx="2423160" cy="1234440"/>
          </a:xfrm>
          <a:prstGeom prst="roundRect">
            <a:avLst/>
          </a:prstGeom>
          <a:solidFill>
            <a:srgbClr val="F2F6F6"/>
          </a:solidFill>
          <a:ln w="13970">
            <a:solidFill>
              <a:srgbClr val="84A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00584" rtlCol="0" anchor="ctr"/>
          <a:lstStyle/>
          <a:p>
            <a:pPr algn="ctr">
              <a:defRPr sz="1350" b="1">
                <a:solidFill>
                  <a:srgbClr val="1E1E1E"/>
                </a:solidFill>
                <a:latin typeface="Arial"/>
              </a:defRPr>
            </a:pPr>
            <a:r>
              <a:t>70%  Overall Progress</a:t>
            </a:r>
          </a:p>
          <a:p>
            <a:pPr>
              <a:spcBef>
                <a:spcPts val="400"/>
              </a:spcBef>
              <a:defRPr sz="1120">
                <a:solidFill>
                  <a:srgbClr val="5F6969"/>
                </a:solidFill>
                <a:latin typeface="Arial"/>
              </a:defRPr>
            </a:pPr>
            <a:r>
              <a:t>Core modules developed and integrated.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54680" y="960120"/>
            <a:ext cx="2423160" cy="1234440"/>
          </a:xfrm>
          <a:prstGeom prst="roundRect">
            <a:avLst/>
          </a:prstGeom>
          <a:solidFill>
            <a:srgbClr val="F2F6F6"/>
          </a:solidFill>
          <a:ln w="13970">
            <a:solidFill>
              <a:srgbClr val="84A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00584" rtlCol="0" anchor="ctr"/>
          <a:lstStyle/>
          <a:p>
            <a:pPr algn="ctr">
              <a:defRPr sz="1350" b="1">
                <a:solidFill>
                  <a:srgbClr val="1E1E1E"/>
                </a:solidFill>
                <a:latin typeface="Arial"/>
              </a:defRPr>
            </a:pPr>
            <a:r>
              <a:t>55%  Coding</a:t>
            </a:r>
          </a:p>
          <a:p>
            <a:pPr>
              <a:spcBef>
                <a:spcPts val="400"/>
              </a:spcBef>
              <a:defRPr sz="1120">
                <a:solidFill>
                  <a:srgbClr val="5F6969"/>
                </a:solidFill>
                <a:latin typeface="Arial"/>
              </a:defRPr>
            </a:pPr>
            <a:r>
              <a:t>Calculations, grades and ranking implemented.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715000" y="960120"/>
            <a:ext cx="2423160" cy="1234440"/>
          </a:xfrm>
          <a:prstGeom prst="roundRect">
            <a:avLst/>
          </a:prstGeom>
          <a:solidFill>
            <a:srgbClr val="F2F6F6"/>
          </a:solidFill>
          <a:ln w="13970">
            <a:solidFill>
              <a:srgbClr val="84A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00584" rtlCol="0" anchor="ctr"/>
          <a:lstStyle/>
          <a:p>
            <a:pPr algn="ctr">
              <a:defRPr sz="1350" b="1">
                <a:solidFill>
                  <a:srgbClr val="1E1E1E"/>
                </a:solidFill>
                <a:latin typeface="Arial"/>
              </a:defRPr>
            </a:pPr>
            <a:r>
              <a:t>25%  Testing</a:t>
            </a:r>
          </a:p>
          <a:p>
            <a:pPr>
              <a:spcBef>
                <a:spcPts val="400"/>
              </a:spcBef>
              <a:defRPr sz="1120">
                <a:solidFill>
                  <a:srgbClr val="5F6969"/>
                </a:solidFill>
                <a:latin typeface="Arial"/>
              </a:defRPr>
            </a:pPr>
            <a:r>
              <a:t>Multiple student records tested.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1460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t>• Student data input and structured record storage implemented.</a:t>
            </a:r>
          </a:p>
          <a:p>
            <a:pPr>
              <a:spcAft>
                <a:spcPts val="7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t>• Bulk processing for multiple student records completed.</a:t>
            </a:r>
          </a:p>
          <a:p>
            <a:pPr>
              <a:spcAft>
                <a:spcPts val="7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t>• Total marks and percentage calculation automated.</a:t>
            </a:r>
          </a:p>
          <a:p>
            <a:pPr>
              <a:spcAft>
                <a:spcPts val="7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t>• Grade assignment and rank calculation implemented.</a:t>
            </a:r>
          </a:p>
          <a:p>
            <a:pPr>
              <a:spcAft>
                <a:spcPts val="7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t>• Printable marksheet output generated automatically.</a:t>
            </a:r>
          </a:p>
          <a:p>
            <a:pPr>
              <a:spcAft>
                <a:spcPts val="700"/>
              </a:spcAft>
              <a:defRPr sz="1500">
                <a:solidFill>
                  <a:srgbClr val="1E1E1E"/>
                </a:solidFill>
                <a:latin typeface="Arial"/>
              </a:defRPr>
            </a:pPr>
            <a:r>
              <a:t>• Remaining: complete testing and final deployment in Phase III.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601968"/>
            <a:ext cx="9144000" cy="256032"/>
          </a:xfrm>
          <a:prstGeom prst="rect">
            <a:avLst/>
          </a:prstGeom>
          <a:solidFill>
            <a:srgbClr val="84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56032" y="6643116"/>
            <a:ext cx="45720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3801041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1E1E"/>
                </a:solidFill>
                <a:latin typeface="Arial"/>
              </a:defRPr>
            </a:pPr>
            <a:r>
              <a:rPr dirty="0" smtClean="0"/>
              <a:t> </a:t>
            </a:r>
            <a:r>
              <a:rPr dirty="0"/>
              <a:t>Code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04671"/>
            <a:ext cx="3886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1E1E"/>
                </a:solidFill>
                <a:latin typeface="Arial"/>
              </a:defRPr>
            </a:pPr>
            <a:r>
              <a:t>Result Calculation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3886200" cy="4160520"/>
          </a:xfrm>
          <a:prstGeom prst="roundRect">
            <a:avLst/>
          </a:prstGeom>
          <a:solidFill>
            <a:srgbClr val="1E2224"/>
          </a:solidFill>
          <a:ln>
            <a:solidFill>
              <a:srgbClr val="46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>
              <a:defRPr sz="1120">
                <a:solidFill>
                  <a:srgbClr val="EBF0F0"/>
                </a:solidFill>
                <a:latin typeface="Consolas"/>
              </a:defRPr>
            </a:pPr>
            <a:r>
              <a:t>def calculate_result(marks):</a:t>
            </a:r>
            <a:br/>
            <a:r>
              <a:t>    total = sum(marks)</a:t>
            </a:r>
            <a:br/>
            <a:r>
              <a:t>    percentage = total / len(marks)</a:t>
            </a:r>
            <a:br/>
            <a:r>
              <a:t/>
            </a:r>
            <a:br/>
            <a:r>
              <a:t>    if percentage &gt;= 90: grade = "A+"</a:t>
            </a:r>
            <a:br/>
            <a:r>
              <a:t>    elif percentage &gt;= 80: grade = "A"</a:t>
            </a:r>
            <a:br/>
            <a:r>
              <a:t>    elif percentage &gt;= 70: grade = "B"</a:t>
            </a:r>
            <a:br/>
            <a:r>
              <a:t>    elif percentage &gt;= 60: grade = "C"</a:t>
            </a:r>
            <a:br/>
            <a:r>
              <a:t>    else: grade = "D"</a:t>
            </a:r>
            <a:br/>
            <a:r>
              <a:t/>
            </a:r>
            <a:br/>
            <a:r>
              <a:t>    return total, percentage, 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804671"/>
            <a:ext cx="3886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1E1E"/>
                </a:solidFill>
                <a:latin typeface="Arial"/>
              </a:defRPr>
            </a:pPr>
            <a:r>
              <a:t>Bulk Processing &amp; Ranking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17720" y="1051560"/>
            <a:ext cx="3886200" cy="3154680"/>
          </a:xfrm>
          <a:prstGeom prst="roundRect">
            <a:avLst/>
          </a:prstGeom>
          <a:solidFill>
            <a:srgbClr val="1E2224"/>
          </a:solidFill>
          <a:ln>
            <a:solidFill>
              <a:srgbClr val="46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>
              <a:defRPr sz="1120">
                <a:solidFill>
                  <a:srgbClr val="EBF0F0"/>
                </a:solidFill>
                <a:latin typeface="Consolas"/>
              </a:defRPr>
            </a:pPr>
            <a:r>
              <a:t>for student in students:</a:t>
            </a:r>
            <a:br/>
            <a:r>
              <a:t>    total, percentage, grade = calculate_result(</a:t>
            </a:r>
            <a:br/>
            <a:r>
              <a:t>        student["marks"])</a:t>
            </a:r>
            <a:br/>
            <a:r>
              <a:t>    student["total"] = total</a:t>
            </a:r>
            <a:br/>
            <a:r>
              <a:t>    student["percentage"] = percentage</a:t>
            </a:r>
            <a:br/>
            <a:r>
              <a:t>    student["grade"] = grade</a:t>
            </a:r>
            <a:br/>
            <a:r>
              <a:t/>
            </a:r>
            <a:br/>
            <a:r>
              <a:t>students.sort(key=lambda x: x["percentage"],</a:t>
            </a:r>
            <a:br/>
            <a:r>
              <a:t>              reverse=True)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4434840"/>
            <a:ext cx="3886200" cy="1051560"/>
          </a:xfrm>
          <a:prstGeom prst="roundRect">
            <a:avLst/>
          </a:prstGeom>
          <a:solidFill>
            <a:srgbClr val="F2F6F6"/>
          </a:solidFill>
          <a:ln w="13970">
            <a:solidFill>
              <a:srgbClr val="84A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00584" rtlCol="0" anchor="ctr"/>
          <a:lstStyle/>
          <a:p>
            <a:pPr algn="ctr">
              <a:defRPr sz="1350" b="1">
                <a:solidFill>
                  <a:srgbClr val="1E1E1E"/>
                </a:solidFill>
                <a:latin typeface="Arial"/>
              </a:defRPr>
            </a:pPr>
            <a:r>
              <a:t>✓  Python Logic Used</a:t>
            </a:r>
          </a:p>
          <a:p>
            <a:pPr>
              <a:spcBef>
                <a:spcPts val="400"/>
              </a:spcBef>
              <a:defRPr sz="1120">
                <a:solidFill>
                  <a:srgbClr val="5F6969"/>
                </a:solidFill>
                <a:latin typeface="Arial"/>
              </a:defRPr>
            </a:pPr>
            <a:r>
              <a:t>Lists / dictionaries • loops • sum() • conditions • sorting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9144000" cy="256032"/>
          </a:xfrm>
          <a:prstGeom prst="rect">
            <a:avLst/>
          </a:prstGeom>
          <a:solidFill>
            <a:srgbClr val="84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032" y="6643116"/>
            <a:ext cx="45720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415772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1E1E"/>
                </a:solidFill>
                <a:latin typeface="Arial"/>
              </a:defRPr>
            </a:pPr>
            <a:r>
              <a:rPr dirty="0" smtClean="0"/>
              <a:t>Testing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594360" y="1005840"/>
            <a:ext cx="3520440" cy="1024128"/>
          </a:xfrm>
          <a:prstGeom prst="roundRect">
            <a:avLst/>
          </a:prstGeom>
          <a:solidFill>
            <a:srgbClr val="F2F6F6"/>
          </a:solidFill>
          <a:ln w="13970">
            <a:solidFill>
              <a:srgbClr val="84A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00584" rtlCol="0" anchor="ctr"/>
          <a:lstStyle/>
          <a:p>
            <a:pPr algn="ctr">
              <a:defRPr sz="1350" b="1">
                <a:solidFill>
                  <a:srgbClr val="1E1E1E"/>
                </a:solidFill>
                <a:latin typeface="Arial"/>
              </a:defRPr>
            </a:pPr>
            <a:r>
              <a:t>✓  Student Input</a:t>
            </a:r>
          </a:p>
          <a:p>
            <a:pPr>
              <a:spcBef>
                <a:spcPts val="400"/>
              </a:spcBef>
              <a:defRPr sz="1120">
                <a:solidFill>
                  <a:srgbClr val="5F6969"/>
                </a:solidFill>
                <a:latin typeface="Arial"/>
              </a:defRPr>
            </a:pPr>
            <a:r>
              <a:t>Valid student details and marks are accepted correctly.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005840"/>
            <a:ext cx="3520440" cy="1024128"/>
          </a:xfrm>
          <a:prstGeom prst="roundRect">
            <a:avLst/>
          </a:prstGeom>
          <a:solidFill>
            <a:srgbClr val="F2F6F6"/>
          </a:solidFill>
          <a:ln w="13970">
            <a:solidFill>
              <a:srgbClr val="84A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00584" rtlCol="0" anchor="ctr"/>
          <a:lstStyle/>
          <a:p>
            <a:pPr algn="ctr">
              <a:defRPr sz="1350" b="1">
                <a:solidFill>
                  <a:srgbClr val="1E1E1E"/>
                </a:solidFill>
                <a:latin typeface="Arial"/>
              </a:defRPr>
            </a:pPr>
            <a:r>
              <a:t>✓  Marks Validation</a:t>
            </a:r>
          </a:p>
          <a:p>
            <a:pPr>
              <a:spcBef>
                <a:spcPts val="400"/>
              </a:spcBef>
              <a:defRPr sz="1120">
                <a:solidFill>
                  <a:srgbClr val="5F6969"/>
                </a:solidFill>
                <a:latin typeface="Arial"/>
              </a:defRPr>
            </a:pPr>
            <a:r>
              <a:t>Invalid or out-of-range marks are rejected.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377440"/>
            <a:ext cx="3520440" cy="1024128"/>
          </a:xfrm>
          <a:prstGeom prst="roundRect">
            <a:avLst/>
          </a:prstGeom>
          <a:solidFill>
            <a:srgbClr val="F2F6F6"/>
          </a:solidFill>
          <a:ln w="13970">
            <a:solidFill>
              <a:srgbClr val="84A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00584" rtlCol="0" anchor="ctr"/>
          <a:lstStyle/>
          <a:p>
            <a:pPr algn="ctr">
              <a:defRPr sz="1350" b="1">
                <a:solidFill>
                  <a:srgbClr val="1E1E1E"/>
                </a:solidFill>
                <a:latin typeface="Arial"/>
              </a:defRPr>
            </a:pPr>
            <a:r>
              <a:t>✓  Calculation</a:t>
            </a:r>
          </a:p>
          <a:p>
            <a:pPr>
              <a:spcBef>
                <a:spcPts val="400"/>
              </a:spcBef>
              <a:defRPr sz="1120">
                <a:solidFill>
                  <a:srgbClr val="5F6969"/>
                </a:solidFill>
                <a:latin typeface="Arial"/>
              </a:defRPr>
            </a:pPr>
            <a:r>
              <a:t>Total and percentage match manual calculations.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377440"/>
            <a:ext cx="3520440" cy="1024128"/>
          </a:xfrm>
          <a:prstGeom prst="roundRect">
            <a:avLst/>
          </a:prstGeom>
          <a:solidFill>
            <a:srgbClr val="F2F6F6"/>
          </a:solidFill>
          <a:ln w="13970">
            <a:solidFill>
              <a:srgbClr val="84A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00584" rtlCol="0" anchor="ctr"/>
          <a:lstStyle/>
          <a:p>
            <a:pPr algn="ctr">
              <a:defRPr sz="1350" b="1">
                <a:solidFill>
                  <a:srgbClr val="1E1E1E"/>
                </a:solidFill>
                <a:latin typeface="Arial"/>
              </a:defRPr>
            </a:pPr>
            <a:r>
              <a:t>✓  Grade Assignment</a:t>
            </a:r>
          </a:p>
          <a:p>
            <a:pPr>
              <a:spcBef>
                <a:spcPts val="400"/>
              </a:spcBef>
              <a:defRPr sz="1120">
                <a:solidFill>
                  <a:srgbClr val="5F6969"/>
                </a:solidFill>
                <a:latin typeface="Arial"/>
              </a:defRPr>
            </a:pPr>
            <a:r>
              <a:t>Grade is assigned according to percentage range.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49039"/>
            <a:ext cx="3520440" cy="1024128"/>
          </a:xfrm>
          <a:prstGeom prst="roundRect">
            <a:avLst/>
          </a:prstGeom>
          <a:solidFill>
            <a:srgbClr val="F2F6F6"/>
          </a:solidFill>
          <a:ln w="13970">
            <a:solidFill>
              <a:srgbClr val="84A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00584" rtlCol="0" anchor="ctr"/>
          <a:lstStyle/>
          <a:p>
            <a:pPr algn="ctr">
              <a:defRPr sz="1350" b="1">
                <a:solidFill>
                  <a:srgbClr val="1E1E1E"/>
                </a:solidFill>
                <a:latin typeface="Arial"/>
              </a:defRPr>
            </a:pPr>
            <a:r>
              <a:t>✓  Ranking</a:t>
            </a:r>
          </a:p>
          <a:p>
            <a:pPr>
              <a:spcBef>
                <a:spcPts val="400"/>
              </a:spcBef>
              <a:defRPr sz="1120">
                <a:solidFill>
                  <a:srgbClr val="5F6969"/>
                </a:solidFill>
                <a:latin typeface="Arial"/>
              </a:defRPr>
            </a:pPr>
            <a:r>
              <a:t>Students are ordered using calculated performance.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749039"/>
            <a:ext cx="3520440" cy="1024128"/>
          </a:xfrm>
          <a:prstGeom prst="roundRect">
            <a:avLst/>
          </a:prstGeom>
          <a:solidFill>
            <a:srgbClr val="F2F6F6"/>
          </a:solidFill>
          <a:ln w="13970">
            <a:solidFill>
              <a:srgbClr val="84A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00584" rtlCol="0" anchor="ctr"/>
          <a:lstStyle/>
          <a:p>
            <a:pPr algn="ctr">
              <a:defRPr sz="1350" b="1">
                <a:solidFill>
                  <a:srgbClr val="1E1E1E"/>
                </a:solidFill>
                <a:latin typeface="Arial"/>
              </a:defRPr>
            </a:pPr>
            <a:r>
              <a:t>✓  High-Volume Data</a:t>
            </a:r>
          </a:p>
          <a:p>
            <a:pPr>
              <a:spcBef>
                <a:spcPts val="400"/>
              </a:spcBef>
              <a:defRPr sz="1120">
                <a:solidFill>
                  <a:srgbClr val="5F6969"/>
                </a:solidFill>
                <a:latin typeface="Arial"/>
              </a:defRPr>
            </a:pPr>
            <a:r>
              <a:t>Multiple records are processed consistently.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9144000" cy="256032"/>
          </a:xfrm>
          <a:prstGeom prst="rect">
            <a:avLst/>
          </a:prstGeom>
          <a:solidFill>
            <a:srgbClr val="84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" y="6643116"/>
            <a:ext cx="45720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397358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1E1E"/>
                </a:solidFill>
                <a:latin typeface="Arial"/>
              </a:defRPr>
            </a:pPr>
            <a:r>
              <a:rPr dirty="0" smtClean="0"/>
              <a:t> </a:t>
            </a:r>
            <a:r>
              <a:rPr dirty="0"/>
              <a:t>Result / Expected Output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13232"/>
            <a:ext cx="3703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1E1E"/>
                </a:solidFill>
                <a:latin typeface="Arial"/>
              </a:defRPr>
            </a:pPr>
            <a:r>
              <a:t>Sample Output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960120"/>
            <a:ext cx="3703320" cy="4709160"/>
          </a:xfrm>
          <a:prstGeom prst="roundRect">
            <a:avLst/>
          </a:prstGeom>
          <a:solidFill>
            <a:srgbClr val="1E2224"/>
          </a:solidFill>
          <a:ln>
            <a:solidFill>
              <a:srgbClr val="464B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91440" rtlCol="0" anchor="ctr"/>
          <a:lstStyle/>
          <a:p>
            <a:pPr algn="ctr">
              <a:defRPr sz="1120">
                <a:solidFill>
                  <a:srgbClr val="EBF0F0"/>
                </a:solidFill>
                <a:latin typeface="Consolas"/>
              </a:defRPr>
            </a:pPr>
            <a:r>
              <a:t>================================</a:t>
            </a:r>
            <a:br/>
            <a:r>
              <a:t>     STUDENT MARKSHEET SYSTEM</a:t>
            </a:r>
            <a:br/>
            <a:r>
              <a:t>================================</a:t>
            </a:r>
            <a:br/>
            <a:r>
              <a:t>Name       : Maayli Tabhane</a:t>
            </a:r>
            <a:br/>
            <a:r>
              <a:t>USN        : CM25090</a:t>
            </a:r>
            <a:br/>
            <a:r>
              <a:t/>
            </a:r>
            <a:br/>
            <a:r>
              <a:t>Mathematics        : 88</a:t>
            </a:r>
            <a:br/>
            <a:r>
              <a:t>Python Programming : 92</a:t>
            </a:r>
            <a:br/>
            <a:r>
              <a:t>Data Structures    : 85</a:t>
            </a:r>
            <a:br/>
            <a:r>
              <a:t>DBMS               : 90</a:t>
            </a:r>
            <a:br/>
            <a:r>
              <a:t>Communication      : 86</a:t>
            </a:r>
            <a:br/>
            <a:r>
              <a:t/>
            </a:r>
            <a:br/>
            <a:r>
              <a:t>Total      : 441 / 500</a:t>
            </a:r>
            <a:br/>
            <a:r>
              <a:t>Percentage : 88.20%</a:t>
            </a:r>
            <a:br/>
            <a:r>
              <a:t>Grade      : A</a:t>
            </a:r>
            <a:br/>
            <a:r>
              <a:t>Rank       : 2</a:t>
            </a:r>
            <a:br/>
            <a:r>
              <a:t>Result     : PASS</a:t>
            </a:r>
            <a:br/>
            <a:r>
              <a:t>================================</a:t>
            </a:r>
          </a:p>
        </p:txBody>
      </p:sp>
      <p:pic>
        <p:nvPicPr>
          <p:cNvPr id="5" name="Picture 4" descr="marks_subject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960120"/>
            <a:ext cx="3703320" cy="2136531"/>
          </a:xfrm>
          <a:prstGeom prst="rect">
            <a:avLst/>
          </a:prstGeom>
        </p:spPr>
      </p:pic>
      <p:pic>
        <p:nvPicPr>
          <p:cNvPr id="6" name="Picture 5" descr="grade_distributi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3520440"/>
            <a:ext cx="3703320" cy="213653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715000"/>
            <a:ext cx="7589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i="1">
                <a:solidFill>
                  <a:srgbClr val="5F6969"/>
                </a:solidFill>
                <a:latin typeface="Arial"/>
              </a:defRPr>
            </a:pPr>
            <a:r>
              <a:t>Sample chart values are for demonstration; replace them with actual project test data if available.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01968"/>
            <a:ext cx="9144000" cy="256032"/>
          </a:xfrm>
          <a:prstGeom prst="rect">
            <a:avLst/>
          </a:prstGeom>
          <a:solidFill>
            <a:srgbClr val="84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56032" y="6643116"/>
            <a:ext cx="45720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7590539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1E1E"/>
                </a:solidFill>
                <a:latin typeface="Arial"/>
              </a:defRPr>
            </a:pPr>
            <a:r>
              <a:rPr dirty="0" smtClean="0"/>
              <a:t> </a:t>
            </a:r>
            <a:r>
              <a:rPr dirty="0"/>
              <a:t>GitHub Account, Repository &amp; Collaboration</a:t>
            </a:r>
          </a:p>
        </p:txBody>
      </p:sp>
      <p:sp>
        <p:nvSpPr>
          <p:cNvPr id="3" name="Oval 2"/>
          <p:cNvSpPr/>
          <p:nvPr/>
        </p:nvSpPr>
        <p:spPr>
          <a:xfrm>
            <a:off x="640080" y="960120"/>
            <a:ext cx="530352" cy="530352"/>
          </a:xfrm>
          <a:prstGeom prst="ellipse">
            <a:avLst/>
          </a:prstGeom>
          <a:solidFill>
            <a:srgbClr val="84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98448" y="941832"/>
            <a:ext cx="3154680" cy="1051560"/>
          </a:xfrm>
          <a:prstGeom prst="roundRect">
            <a:avLst/>
          </a:prstGeom>
          <a:solidFill>
            <a:srgbClr val="F2F6F6"/>
          </a:solidFill>
          <a:ln w="13970">
            <a:solidFill>
              <a:srgbClr val="84A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00584" rtlCol="0" anchor="ctr"/>
          <a:lstStyle/>
          <a:p>
            <a:pPr algn="ctr">
              <a:defRPr sz="1350" b="1">
                <a:solidFill>
                  <a:srgbClr val="1E1E1E"/>
                </a:solidFill>
                <a:latin typeface="Arial"/>
              </a:defRPr>
            </a:pPr>
            <a:r>
              <a:t>Create Account</a:t>
            </a:r>
          </a:p>
          <a:p>
            <a:pPr>
              <a:spcBef>
                <a:spcPts val="400"/>
              </a:spcBef>
              <a:defRPr sz="1120">
                <a:solidFill>
                  <a:srgbClr val="5F6969"/>
                </a:solidFill>
                <a:latin typeface="Arial"/>
              </a:defRPr>
            </a:pPr>
            <a:r>
              <a:t>Set up a personal GitHub account.</a:t>
            </a:r>
          </a:p>
        </p:txBody>
      </p:sp>
      <p:sp>
        <p:nvSpPr>
          <p:cNvPr id="5" name="Oval 4"/>
          <p:cNvSpPr/>
          <p:nvPr/>
        </p:nvSpPr>
        <p:spPr>
          <a:xfrm>
            <a:off x="4617720" y="960120"/>
            <a:ext cx="530352" cy="530352"/>
          </a:xfrm>
          <a:prstGeom prst="ellipse">
            <a:avLst/>
          </a:prstGeom>
          <a:solidFill>
            <a:srgbClr val="84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76088" y="941832"/>
            <a:ext cx="3154680" cy="1051560"/>
          </a:xfrm>
          <a:prstGeom prst="roundRect">
            <a:avLst/>
          </a:prstGeom>
          <a:solidFill>
            <a:srgbClr val="F2F6F6"/>
          </a:solidFill>
          <a:ln w="13970">
            <a:solidFill>
              <a:srgbClr val="84A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00584" rtlCol="0" anchor="ctr"/>
          <a:lstStyle/>
          <a:p>
            <a:pPr algn="ctr">
              <a:defRPr sz="1350" b="1">
                <a:solidFill>
                  <a:srgbClr val="1E1E1E"/>
                </a:solidFill>
                <a:latin typeface="Arial"/>
              </a:defRPr>
            </a:pPr>
            <a:r>
              <a:t>Create Repository</a:t>
            </a:r>
          </a:p>
          <a:p>
            <a:pPr>
              <a:spcBef>
                <a:spcPts val="400"/>
              </a:spcBef>
              <a:defRPr sz="1120">
                <a:solidFill>
                  <a:srgbClr val="5F6969"/>
                </a:solidFill>
                <a:latin typeface="Arial"/>
              </a:defRPr>
            </a:pPr>
            <a:r>
              <a:t>Student-Marksheet-Automation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514600"/>
            <a:ext cx="530352" cy="530352"/>
          </a:xfrm>
          <a:prstGeom prst="ellipse">
            <a:avLst/>
          </a:prstGeom>
          <a:solidFill>
            <a:srgbClr val="84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98448" y="2496312"/>
            <a:ext cx="3154680" cy="1051560"/>
          </a:xfrm>
          <a:prstGeom prst="roundRect">
            <a:avLst/>
          </a:prstGeom>
          <a:solidFill>
            <a:srgbClr val="F2F6F6"/>
          </a:solidFill>
          <a:ln w="13970">
            <a:solidFill>
              <a:srgbClr val="84A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00584" rtlCol="0" anchor="ctr"/>
          <a:lstStyle/>
          <a:p>
            <a:pPr algn="ctr">
              <a:defRPr sz="1350" b="1">
                <a:solidFill>
                  <a:srgbClr val="1E1E1E"/>
                </a:solidFill>
                <a:latin typeface="Arial"/>
              </a:defRPr>
            </a:pPr>
            <a:r>
              <a:t>Upload Code</a:t>
            </a:r>
          </a:p>
          <a:p>
            <a:pPr>
              <a:spcBef>
                <a:spcPts val="400"/>
              </a:spcBef>
              <a:defRPr sz="1120">
                <a:solidFill>
                  <a:srgbClr val="5F6969"/>
                </a:solidFill>
                <a:latin typeface="Arial"/>
              </a:defRPr>
            </a:pPr>
            <a:r>
              <a:t>marksheet.py • students.csv • README.md</a:t>
            </a:r>
          </a:p>
        </p:txBody>
      </p:sp>
      <p:sp>
        <p:nvSpPr>
          <p:cNvPr id="9" name="Oval 8"/>
          <p:cNvSpPr/>
          <p:nvPr/>
        </p:nvSpPr>
        <p:spPr>
          <a:xfrm>
            <a:off x="4617720" y="2514600"/>
            <a:ext cx="530352" cy="530352"/>
          </a:xfrm>
          <a:prstGeom prst="ellipse">
            <a:avLst/>
          </a:prstGeom>
          <a:solidFill>
            <a:srgbClr val="84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76088" y="2496312"/>
            <a:ext cx="3154680" cy="1051560"/>
          </a:xfrm>
          <a:prstGeom prst="roundRect">
            <a:avLst/>
          </a:prstGeom>
          <a:solidFill>
            <a:srgbClr val="F2F6F6"/>
          </a:solidFill>
          <a:ln w="13970">
            <a:solidFill>
              <a:srgbClr val="84A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00584" rtlCol="0" anchor="ctr"/>
          <a:lstStyle/>
          <a:p>
            <a:pPr algn="ctr">
              <a:defRPr sz="1350" b="1">
                <a:solidFill>
                  <a:srgbClr val="1E1E1E"/>
                </a:solidFill>
                <a:latin typeface="Arial"/>
              </a:defRPr>
            </a:pPr>
            <a:r>
              <a:t>Meaningful Commits</a:t>
            </a:r>
          </a:p>
          <a:p>
            <a:pPr>
              <a:spcBef>
                <a:spcPts val="400"/>
              </a:spcBef>
              <a:defRPr sz="1120">
                <a:solidFill>
                  <a:srgbClr val="5F6969"/>
                </a:solidFill>
                <a:latin typeface="Arial"/>
              </a:defRPr>
            </a:pPr>
            <a:r>
              <a:t>Added grade calculation • Added ranking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4069080"/>
            <a:ext cx="530352" cy="530352"/>
          </a:xfrm>
          <a:prstGeom prst="ellipse">
            <a:avLst/>
          </a:prstGeom>
          <a:solidFill>
            <a:srgbClr val="84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98448" y="4050792"/>
            <a:ext cx="3154680" cy="1051560"/>
          </a:xfrm>
          <a:prstGeom prst="roundRect">
            <a:avLst/>
          </a:prstGeom>
          <a:solidFill>
            <a:srgbClr val="F2F6F6"/>
          </a:solidFill>
          <a:ln w="13970">
            <a:solidFill>
              <a:srgbClr val="84A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00584" rtlCol="0" anchor="ctr"/>
          <a:lstStyle/>
          <a:p>
            <a:pPr algn="ctr">
              <a:defRPr sz="1350" b="1">
                <a:solidFill>
                  <a:srgbClr val="1E1E1E"/>
                </a:solidFill>
                <a:latin typeface="Arial"/>
              </a:defRPr>
            </a:pPr>
            <a:r>
              <a:t>Collaboration</a:t>
            </a:r>
          </a:p>
          <a:p>
            <a:pPr>
              <a:spcBef>
                <a:spcPts val="400"/>
              </a:spcBef>
              <a:defRPr sz="1120">
                <a:solidFill>
                  <a:srgbClr val="5F6969"/>
                </a:solidFill>
                <a:latin typeface="Arial"/>
              </a:defRPr>
            </a:pPr>
            <a:r>
              <a:t>Branches / pull requests for teamwork</a:t>
            </a:r>
          </a:p>
        </p:txBody>
      </p:sp>
      <p:sp>
        <p:nvSpPr>
          <p:cNvPr id="13" name="Oval 12"/>
          <p:cNvSpPr/>
          <p:nvPr/>
        </p:nvSpPr>
        <p:spPr>
          <a:xfrm>
            <a:off x="4617720" y="4069080"/>
            <a:ext cx="530352" cy="530352"/>
          </a:xfrm>
          <a:prstGeom prst="ellipse">
            <a:avLst/>
          </a:prstGeom>
          <a:solidFill>
            <a:srgbClr val="84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76088" y="4050792"/>
            <a:ext cx="3154680" cy="1051560"/>
          </a:xfrm>
          <a:prstGeom prst="roundRect">
            <a:avLst/>
          </a:prstGeom>
          <a:solidFill>
            <a:srgbClr val="F2F6F6"/>
          </a:solidFill>
          <a:ln w="13970">
            <a:solidFill>
              <a:srgbClr val="84A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00584" rtlCol="0" anchor="ctr"/>
          <a:lstStyle/>
          <a:p>
            <a:pPr algn="ctr">
              <a:defRPr sz="1350" b="1">
                <a:solidFill>
                  <a:srgbClr val="1E1E1E"/>
                </a:solidFill>
                <a:latin typeface="Arial"/>
              </a:defRPr>
            </a:pPr>
            <a:r>
              <a:t>Track Changes</a:t>
            </a:r>
          </a:p>
          <a:p>
            <a:pPr>
              <a:spcBef>
                <a:spcPts val="400"/>
              </a:spcBef>
              <a:defRPr sz="1120">
                <a:solidFill>
                  <a:srgbClr val="5F6969"/>
                </a:solidFill>
                <a:latin typeface="Arial"/>
              </a:defRPr>
            </a:pPr>
            <a:r>
              <a:t>Use commit history for phase-wise progress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01968"/>
            <a:ext cx="9144000" cy="256032"/>
          </a:xfrm>
          <a:prstGeom prst="rect">
            <a:avLst/>
          </a:prstGeom>
          <a:solidFill>
            <a:srgbClr val="84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56032" y="6643116"/>
            <a:ext cx="45720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4070345" cy="5078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E1E1E"/>
                </a:solidFill>
                <a:latin typeface="Arial"/>
              </a:defRPr>
            </a:pPr>
            <a:r>
              <a:rPr dirty="0" smtClean="0"/>
              <a:t> </a:t>
            </a:r>
            <a:r>
              <a:rPr dirty="0"/>
              <a:t>Individual Contribution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960120"/>
            <a:ext cx="3657600" cy="1115568"/>
          </a:xfrm>
          <a:prstGeom prst="roundRect">
            <a:avLst/>
          </a:prstGeom>
          <a:solidFill>
            <a:srgbClr val="F2F6F6"/>
          </a:solidFill>
          <a:ln w="13970">
            <a:solidFill>
              <a:srgbClr val="84A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00584" rtlCol="0" anchor="ctr"/>
          <a:lstStyle/>
          <a:p>
            <a:pPr algn="ctr">
              <a:defRPr sz="1350" b="1">
                <a:solidFill>
                  <a:srgbClr val="1E1E1E"/>
                </a:solidFill>
                <a:latin typeface="Arial"/>
              </a:defRPr>
            </a:pPr>
            <a:r>
              <a:t>★  Problem Analysis</a:t>
            </a:r>
          </a:p>
          <a:p>
            <a:pPr>
              <a:spcBef>
                <a:spcPts val="400"/>
              </a:spcBef>
              <a:defRPr sz="1120">
                <a:solidFill>
                  <a:srgbClr val="5F6969"/>
                </a:solidFill>
                <a:latin typeface="Arial"/>
              </a:defRPr>
            </a:pPr>
            <a:r>
              <a:t>Studied automation needs for high-volume student records.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960120"/>
            <a:ext cx="3657600" cy="1115568"/>
          </a:xfrm>
          <a:prstGeom prst="roundRect">
            <a:avLst/>
          </a:prstGeom>
          <a:solidFill>
            <a:srgbClr val="F2F6F6"/>
          </a:solidFill>
          <a:ln w="13970">
            <a:solidFill>
              <a:srgbClr val="84A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00584" rtlCol="0" anchor="ctr"/>
          <a:lstStyle/>
          <a:p>
            <a:pPr algn="ctr">
              <a:defRPr sz="1350" b="1">
                <a:solidFill>
                  <a:srgbClr val="1E1E1E"/>
                </a:solidFill>
                <a:latin typeface="Arial"/>
              </a:defRPr>
            </a:pPr>
            <a:r>
              <a:t>★  Algorithm Design</a:t>
            </a:r>
          </a:p>
          <a:p>
            <a:pPr>
              <a:spcBef>
                <a:spcPts val="400"/>
              </a:spcBef>
              <a:defRPr sz="1120">
                <a:solidFill>
                  <a:srgbClr val="5F6969"/>
                </a:solidFill>
                <a:latin typeface="Arial"/>
              </a:defRPr>
            </a:pPr>
            <a:r>
              <a:t>Designed total, percentage, grade and rank calculations.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468880"/>
            <a:ext cx="3657600" cy="1115568"/>
          </a:xfrm>
          <a:prstGeom prst="roundRect">
            <a:avLst/>
          </a:prstGeom>
          <a:solidFill>
            <a:srgbClr val="F2F6F6"/>
          </a:solidFill>
          <a:ln w="13970">
            <a:solidFill>
              <a:srgbClr val="84A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00584" rtlCol="0" anchor="ctr"/>
          <a:lstStyle/>
          <a:p>
            <a:pPr algn="ctr">
              <a:defRPr sz="1350" b="1">
                <a:solidFill>
                  <a:srgbClr val="1E1E1E"/>
                </a:solidFill>
                <a:latin typeface="Arial"/>
              </a:defRPr>
            </a:pPr>
            <a:r>
              <a:t>★  Python Coding</a:t>
            </a:r>
          </a:p>
          <a:p>
            <a:pPr>
              <a:spcBef>
                <a:spcPts val="400"/>
              </a:spcBef>
              <a:defRPr sz="1120">
                <a:solidFill>
                  <a:srgbClr val="5F6969"/>
                </a:solidFill>
                <a:latin typeface="Arial"/>
              </a:defRPr>
            </a:pPr>
            <a:r>
              <a:t>Implemented data storage, loops, conditions and output.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2468880"/>
            <a:ext cx="3657600" cy="1115568"/>
          </a:xfrm>
          <a:prstGeom prst="roundRect">
            <a:avLst/>
          </a:prstGeom>
          <a:solidFill>
            <a:srgbClr val="F2F6F6"/>
          </a:solidFill>
          <a:ln w="13970">
            <a:solidFill>
              <a:srgbClr val="84A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00584" rtlCol="0" anchor="ctr"/>
          <a:lstStyle/>
          <a:p>
            <a:pPr algn="ctr">
              <a:defRPr sz="1350" b="1">
                <a:solidFill>
                  <a:srgbClr val="1E1E1E"/>
                </a:solidFill>
                <a:latin typeface="Arial"/>
              </a:defRPr>
            </a:pPr>
            <a:r>
              <a:t>★  Testing</a:t>
            </a:r>
          </a:p>
          <a:p>
            <a:pPr>
              <a:spcBef>
                <a:spcPts val="400"/>
              </a:spcBef>
              <a:defRPr sz="1120">
                <a:solidFill>
                  <a:srgbClr val="5F6969"/>
                </a:solidFill>
                <a:latin typeface="Arial"/>
              </a:defRPr>
            </a:pPr>
            <a:r>
              <a:t>Tested multiple student records and different mark ranges.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977639"/>
            <a:ext cx="3657600" cy="1115568"/>
          </a:xfrm>
          <a:prstGeom prst="roundRect">
            <a:avLst/>
          </a:prstGeom>
          <a:solidFill>
            <a:srgbClr val="F2F6F6"/>
          </a:solidFill>
          <a:ln w="13970">
            <a:solidFill>
              <a:srgbClr val="84A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00584" rtlCol="0" anchor="ctr"/>
          <a:lstStyle/>
          <a:p>
            <a:pPr algn="ctr">
              <a:defRPr sz="1350" b="1">
                <a:solidFill>
                  <a:srgbClr val="1E1E1E"/>
                </a:solidFill>
                <a:latin typeface="Arial"/>
              </a:defRPr>
            </a:pPr>
            <a:r>
              <a:t>★  GitHub Contribution</a:t>
            </a:r>
          </a:p>
          <a:p>
            <a:pPr>
              <a:spcBef>
                <a:spcPts val="400"/>
              </a:spcBef>
              <a:defRPr sz="1120">
                <a:solidFill>
                  <a:srgbClr val="5F6969"/>
                </a:solidFill>
                <a:latin typeface="Arial"/>
              </a:defRPr>
            </a:pPr>
            <a:r>
              <a:t>Uploaded project files and maintained meaningful commits.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3977639"/>
            <a:ext cx="3657600" cy="1115568"/>
          </a:xfrm>
          <a:prstGeom prst="roundRect">
            <a:avLst/>
          </a:prstGeom>
          <a:solidFill>
            <a:srgbClr val="F2F6F6"/>
          </a:solidFill>
          <a:ln w="13970">
            <a:solidFill>
              <a:srgbClr val="84AE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8016" tIns="100584" rtlCol="0" anchor="ctr"/>
          <a:lstStyle/>
          <a:p>
            <a:pPr algn="ctr">
              <a:defRPr sz="1350" b="1">
                <a:solidFill>
                  <a:srgbClr val="1E1E1E"/>
                </a:solidFill>
                <a:latin typeface="Arial"/>
              </a:defRPr>
            </a:pPr>
            <a:r>
              <a:t>★  Documentation &amp; PPT</a:t>
            </a:r>
          </a:p>
          <a:p>
            <a:pPr>
              <a:spcBef>
                <a:spcPts val="400"/>
              </a:spcBef>
              <a:defRPr sz="1120">
                <a:solidFill>
                  <a:srgbClr val="5F6969"/>
                </a:solidFill>
                <a:latin typeface="Arial"/>
              </a:defRPr>
            </a:pPr>
            <a:r>
              <a:t>Prepared documentation, graphical representation and slides.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9144000" cy="256032"/>
          </a:xfrm>
          <a:prstGeom prst="rect">
            <a:avLst/>
          </a:prstGeom>
          <a:solidFill>
            <a:srgbClr val="84AE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6032" y="6643116"/>
            <a:ext cx="45720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  <a:latin typeface="Arial"/>
              </a:defRPr>
            </a:pPr>
            <a:r>
              <a:t>S. B. Jain Institute of Technology Management and research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426" y="2896496"/>
            <a:ext cx="3138804" cy="738664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Thankyou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4263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1407</Words>
  <Application>Microsoft Office PowerPoint</Application>
  <PresentationFormat>On-screen Show (4:3)</PresentationFormat>
  <Paragraphs>178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Consolas</vt:lpstr>
      <vt:lpstr>Times New Roman</vt:lpstr>
      <vt:lpstr>Office Theme</vt:lpstr>
      <vt:lpstr>Experiential Learning Project Assessment-I on “ Student Marksheet Automation (high volume)”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Experiential Learning Project Assessment-I on “ Student Marksheet Automation (high volume)”</dc:title>
  <dc:creator>SATISH TABHANE</dc:creator>
  <cp:lastModifiedBy>SATISH TABHANE</cp:lastModifiedBy>
  <cp:revision>2</cp:revision>
  <dcterms:created xsi:type="dcterms:W3CDTF">2026-08-14T15:25:10Z</dcterms:created>
  <dcterms:modified xsi:type="dcterms:W3CDTF">2026-09-23T14:33:05Z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2026-08-14T00:00:00Z</vt:filetime>
  </property>
  <property fmtid="{D5CDD505-2E9C-101B-9397-08002B2CF9AE}" pid="3" name="Creator">
    <vt:lpwstr>Google</vt:lpwstr>
  </property>
  <property fmtid="{D5CDD505-2E9C-101B-9397-08002B2CF9AE}" pid="4" name="LastSaved">
    <vt:filetime>2026-08-14T00:00:00Z</vt:filetime>
  </property>
</Properties>
</file>